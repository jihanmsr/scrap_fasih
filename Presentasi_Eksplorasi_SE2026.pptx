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t>Analisis Kesenjangan Target UTP (ST2023 vs SE2026)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1800"/>
            </a:pPr>
            <a:r>
              <a:t>Target UTP Pusat (ST2023) = 843.232 Target</a:t>
            </a:r>
          </a:p>
          <a:p>
            <a:pPr algn="l">
              <a:defRPr sz="1800"/>
            </a:pPr>
            <a:r>
              <a:t>Target Prelist 'Keluarga' SE2026 = 640.715 Target</a:t>
            </a:r>
          </a:p>
          <a:p>
            <a:pPr algn="l">
              <a:defRPr sz="1800"/>
            </a:pPr>
          </a:p>
          <a:p>
            <a:pPr algn="l">
              <a:defRPr sz="1800"/>
            </a:pPr>
            <a:r>
              <a:t>MENGAPA SUSUT ~200 RIBU?</a:t>
            </a:r>
          </a:p>
          <a:p>
            <a:pPr algn="l">
              <a:defRPr sz="1800"/>
            </a:pPr>
            <a:r>
              <a:t>Data UTP ST2023 telah di-matching-kan oleh Pusat sebelum dilimpahkan ke SE2026.</a:t>
            </a:r>
          </a:p>
          <a:p>
            <a:pPr algn="l">
              <a:defRPr sz="1800"/>
            </a:pPr>
            <a:r>
              <a:t>Sebagian besar target UTP yang sudah memiliki NIB/Izin UMKM telah dialihkan ke kategori 'OSS Perorangan' dan 'UMKM', atau dikosongkan (Blank).</a:t>
            </a:r>
          </a:p>
          <a:p>
            <a:pPr algn="l">
              <a:defRPr sz="1800"/>
            </a:pPr>
            <a:r>
              <a:t>Maka, target murni UTP (rumah tangga biasa) yang dicacah adalah 640.715.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Realisasi Lapangan &amp; Hambatan Pengawas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Nasib 640.715 Target Keluarga di Lapangan:</a:t>
            </a:r>
          </a:p>
          <a:p>
            <a:pPr lvl="1"/>
            <a:r>
              <a:t>Berhasil Ditemukan: 434.367 (68%)</a:t>
            </a:r>
          </a:p>
          <a:p>
            <a:pPr lvl="1"/>
            <a:r>
              <a:t>Gagal (Pindah/Meninggal/Tutup): 206.348 (32%)</a:t>
            </a:r>
          </a:p>
          <a:p>
            <a:pPr lvl="1"/>
            <a:r>
              <a:t>Artinya: Realisasi kunjungan pencacah hampir 100%! Target gugur murni karena faktor demografi.</a:t>
            </a:r>
          </a:p>
          <a:p>
            <a:br/>
            <a:pPr/>
            <a:r>
              <a:t>2. Status Dokumen FASIH (Tragedi Bottleneck):</a:t>
            </a:r>
          </a:p>
          <a:p>
            <a:pPr lvl="1"/>
            <a:r>
              <a:t>APPROVED BY Pengawas: 436.339 dokumen</a:t>
            </a:r>
          </a:p>
          <a:p>
            <a:pPr lvl="1">
              <a:defRPr>
                <a:solidFill>
                  <a:srgbClr val="FF0000"/>
                </a:solidFill>
              </a:defRPr>
            </a:pPr>
            <a:r>
              <a:t>SUBMITTED BY Pencacah: 157.120 dokumen (Menunggu Approval)</a:t>
            </a:r>
          </a:p>
          <a:p>
            <a:pPr lvl="1"/>
            <a:r>
              <a:t>REJECTED BY Pengawas: 26.682 dokumen</a:t>
            </a:r>
          </a:p>
          <a:p>
            <a:pPr lvl="1"/>
            <a:r>
              <a:t>DRAFT / Belum Selesai: 1.161 dokumen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